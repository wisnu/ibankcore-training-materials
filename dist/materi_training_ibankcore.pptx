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931920"/>
            <a:ext cx="4114800" cy="4114800"/>
          </a:xfrm>
          <a:prstGeom prst="ellipse">
            <a:avLst/>
          </a:prstGeom>
          <a:solidFill>
            <a:srgbClr val="C0862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CORE BANKING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IBANKCORE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 · Funding · Treasury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Interaksi dengan Aplikasi Sekitar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31750">
            <a:solidFill>
              <a:srgbClr val="C086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Ihsan Solusi  |  Overview untuk audiens teknis &amp; bisnis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Akan Kita Bahas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IBANKCORE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&amp; sistem sekitar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simpanan nasabah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/ Kas &amp; Vault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CASH_POINT &amp; likuiditas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Kafka, SKN/RTGS/BI-FAST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41248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Proses Bisnis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Tunai &amp; Pindah Buku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(LANJUTAN)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 Tambahan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&amp; Layanan Tambahan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Deposito, Kliring, QRIS, VA, Corporate, dsb.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&amp; Kontinuitas Layanan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EOD/BOD, backup &amp; disaster recovery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Audit Lanjutan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Maker-checker, security, biometrik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Modul IBANKCORE</a:t>
            </a:r>
            <a:endParaRPr lang="en-US" sz="3000" dirty="0"/>
          </a:p>
        </p:txBody>
      </p:sp>
      <p:pic>
        <p:nvPicPr>
          <p:cNvPr id="4" name="Image 0" descr="diagrams\01_arsitektur_ibank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4841" y="1600200"/>
            <a:ext cx="7659269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Delapan Modul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pendanaan/simpanan (tabungan, giro, deposito)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Pembiayaan, termasuk skema syariah (Murabahah, Ijarah, Kafalah)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double-entry &amp; buku besar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(Teller/ATM)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fisik: teller, vault, ATM, sundry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bank: SKN, RTGS, BI-FAST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internal bank (GL, suspense)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782312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4956048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4855464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202936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induk nasabah (CIF)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63640" y="4782312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4956048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34" name="Text 32"/>
          <p:cNvSpPr/>
          <p:nvPr/>
        </p:nvSpPr>
        <p:spPr>
          <a:xfrm>
            <a:off x="6629400" y="4855464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29400" y="5202936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Parameter, otorisasi, audit trail lintas modul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Accounting — Prinsip Dasar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Double-Entry Bookkeeping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transaksi selalu menghasilkan pasangan mutasi yang seimbang: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TRANSACTION_DETAILS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tabel inti mutasi, atribut MUTATION_TYPE (DR/CR)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6177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dailybalancerekening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saldo harian, direkonsiliasi terhadap mutasi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16636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CTI lintas skema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CORE_TRX, FUNDING, CASHMGT, REMIT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Penting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Menjamin keseimbangan (balance) setiap transaksi secara atomik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dasar rekonsiliasi saldo &amp; deteksi anomali/duplikasi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jejak audit (audit trail) untuk kebutuhan OJK/BI &amp; auditor eksternal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37960" y="44897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43799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sumber event bagi sistem hilir melalui outbox pattern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Pencatatan Transaksi</a:t>
            </a:r>
            <a:endParaRPr lang="en-US" sz="3000" dirty="0"/>
          </a:p>
        </p:txBody>
      </p:sp>
      <p:pic>
        <p:nvPicPr>
          <p:cNvPr id="4" name="Image 0" descr="diagrams\02_alur_double_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3433" y="1600200"/>
            <a:ext cx="9162086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Funding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produk pendanaan / simpanan nasabah — sumber utama Dana Pihak Ketiga (DPK).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Pembukaan Rekening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Tabungan, giro, deposito — termasuk validasi identitas via modul Customer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 Hasil / Bunga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sesuai jenis produk, konvensional maupun syariah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Transaksi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Setoran, penarikan, pemindahbukuan — tercatat via modul Accounting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Kas &amp; Vault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tunai berinteraksi dengan CASH_POINT (teller/ATM)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Treasury / Kas &amp; Vault (Teller/ATM)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Abstraksi CASH_POINT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Menyeragamkan berbagai titik penyimpanan / perputaran kas dalam satu model: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880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 Teller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53872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(Khazanah) Cabang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97096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19709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ATM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855464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5546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Sundry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Fungsi Treasury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likuiditas harian &amp; posisi kas bank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kas fisik terhadap catatan sistem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Interaksi dengan Remittance untuk settlement lintas bank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⇄ Treasury ⇄ Remittance menjaga likuiditas &amp; settlement bank. Bukan 'Cash Management System' portal korporat — ini kas fisik cabang.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Integrasi dengan Sistem Sekitar</a:t>
            </a:r>
            <a:endParaRPr lang="en-US" sz="3000" dirty="0"/>
          </a:p>
        </p:txBody>
      </p:sp>
      <p:pic>
        <p:nvPicPr>
          <p:cNvPr id="4" name="Image 0" descr="diagrams\03_integrasi_sistem_seki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Kliring, Event Streaming &amp; Pelaporan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Kliring &amp; Pembayaran Antar Bank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945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194560" y="219456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Kliring nasional, nilai relatif kecil, proses batch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0040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RTGS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194560" y="3200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bernilai besar, real-time gross settlement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2062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BI-FAST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94560" y="420624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real-time nilai kecil-menengah, tersedia 24/7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459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12233F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Streaming — Kafka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37960" y="224028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 transactional outbox menjamin event transaksi terpublikasi konsisten ke konsumen hilir (reporting, notifikasi, GL) — loose coupling tanpa akses langsung ke DB inti.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63640" y="393192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 Regulator &amp; Audit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37960" y="45262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mendukung pelaporan berkala ke OJK/BI serta menyediakan jejak data yang tertelusur untuk kebutuhan audit eksternal.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Proses Bisnis — Setor Tunai</a:t>
            </a:r>
            <a:endParaRPr lang="en-US" sz="3000" dirty="0"/>
          </a:p>
        </p:txBody>
      </p:sp>
      <p:pic>
        <p:nvPicPr>
          <p:cNvPr id="4" name="Image 0" descr="diagrams\04_proses_setor_tun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012" y="1600200"/>
            <a:ext cx="8982928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 &amp; Konteks Syariah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rekening dalam bank yang sama: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DR pada rekening sumber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CR pada rekening tujuan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secara atomik (bersamaan)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melibatkan modul Kas &amp; Vault (tidak ada kas fisik)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Konteks Syariah — PSAK 109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Sebagian produk Financing mengikuti prinsip syariah: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880360"/>
            <a:ext cx="4846320" cy="6858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295351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Murabahah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32520" y="295351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Jual-beli dengan margin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37960" y="3703320"/>
            <a:ext cx="4846320" cy="6858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377647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Ijarah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32520" y="377647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Sewa (leasing)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37960" y="4526280"/>
            <a:ext cx="4846320" cy="6858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459943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Kafalah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32520" y="459943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Penjaminan (guarantee)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Bunga/bagi hasil, pencairan awal, perubahan nisbah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Kliring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warkat/instruksi kliring nasabah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Teller &amp; Layanan Counter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transaksi front office via CASH_POINT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QRIS &amp; Virtual Account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QR &amp; VA, settlement/matching batch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Host-to-Host &amp; REST API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eksternal berbasis JSON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Banking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&amp; otorisasi bertingkat nasabah korporat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&amp; Manajemen Nasabah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hidup CIF, pembukaan-penutupan rekening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Biller &amp; Remittance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tagihan pihak ketiga &amp; transfer lintas bank/negara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SAP/GL Eksternal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akuntansi batch untuk konsolidasi korporat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Haji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simpanan/pembiayaan khusus dana haji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Operasional &amp; Kontinuitas Layanan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Process &amp; EOD/BOD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operasional harian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(EOD): tutup hari, rekonsiliasi saldo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Begin-of-Day (BOD): branch open, persiapan hari kerja baru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Prasyarat konsistensi data antar hari &amp; pelaporan regulator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&amp; Disaster Recovery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kontinuitas layanan (business continuity):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database berjenjang (penuh &amp; incremental)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disaster recovery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dari kepatuhan ketahanan operasional perbankan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Keamanan, Otorisasi &amp; Audit Lanjutan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kontrol tambahan di luar hak akses dasar &amp; audit trail (Bagian 6).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 / Otorisasi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Transaksi/perubahan data menunggu persetujuan (OtorEntri) sebelum efektif; riwayat otorisasi tersimpan sebagai jejak audit tersendiri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Security &amp; Access Control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keamanan data user, activity log, serta laporan hak akses per user/grup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&amp; Block Management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sesi login &amp; pemblokiran otomatis setelah kondisi tertentu (mis. gagal login berulang)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Biometrik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otentikasi tambahan di luar PIN/password untuk transaksi berisiko tinggi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82880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dua aplikasi (core &amp; enterprise) dengan lapisan data &amp; pola integrasi yang konsisten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0604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Accounting, Funding, Kas &amp; Vault — pencatatan double-entry &amp; Deposito sebagai contoh produk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38328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 (Kafka, SKN/RTGS/BI-FAST, QRIS, host-to-host/REST) &amp; produk tambahan (Corporate, Biller, Dana Haji)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16052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EOD/BOD, disaster recovery, maker-checker, user security &amp; biometrik — lapisan operasional dan kontrol keamanan kunci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440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Bahan Diskusi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mana yang paling relevan untuk didalami lebih lanjut?   •   Bagaimana penerapan maker-checker &amp; EOD/BOD saat ini?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2026-08-24T04:30:07Z</dcterms:created>
  <dcterms:modified xsi:type="dcterms:W3CDTF">2026-08-24T04:30:07Z</dcterms:modified>
</cp:coreProperties>
</file>