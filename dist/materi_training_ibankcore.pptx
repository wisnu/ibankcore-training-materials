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6400800" cy="64008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3931920"/>
            <a:ext cx="4114800" cy="4114800"/>
          </a:xfrm>
          <a:prstGeom prst="ellipse">
            <a:avLst/>
          </a:prstGeom>
          <a:solidFill>
            <a:srgbClr val="C0862B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CORE BANKING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19456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 IBANKCORE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Accounting · Funding · Treasury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Interaksi dengan Aplikasi Sekitar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343400"/>
            <a:ext cx="2011680" cy="0"/>
          </a:xfrm>
          <a:prstGeom prst="line">
            <a:avLst/>
          </a:prstGeom>
          <a:noFill/>
          <a:ln w="31750">
            <a:solidFill>
              <a:srgbClr val="C086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526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Ihsan Solusi  |  Overview untuk audiens teknis &amp; bisnis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 yang Akan Kita Bahas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EAF1F8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F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IBANKCORE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&amp; sistem sekitar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EAF1F8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F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828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0" y="24688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Accounting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9260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Double-entry ledger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16916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EAF1F8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F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0" y="1828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412480" y="24688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Funding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0" y="29260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simpanan nasabah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EAF1F8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F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8862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31520" y="45262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 / Kas &amp; Vault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9834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CASH_POINT &amp; likuiditas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89120" y="37490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EAF1F8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F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38862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572000" y="45262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Sistem Sekitar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49834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Kafka, SKN/RTGS/BI-FAST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229600" y="37490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EAF1F8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F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412480" y="38862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412480" y="45262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 Proses Bisnis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12480" y="49834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Tunai &amp; Pindah Buku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Training Core Banking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(LANJUTAN)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Materi Tambahan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EAF1F8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F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24688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&amp; Layanan Tambahan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Deposito, Kliring, QRIS, VA, Corporate, dsb.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6916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EAF1F8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F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828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0" y="24688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&amp; Kontinuitas Layanan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9260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EOD/BOD, backup &amp; disaster recovery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1691640"/>
            <a:ext cx="3611880" cy="1783080"/>
          </a:xfrm>
          <a:prstGeom prst="roundRect">
            <a:avLst>
              <a:gd name="adj" fmla="val 4103"/>
            </a:avLst>
          </a:prstGeom>
          <a:solidFill>
            <a:srgbClr val="EAF1F8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25400" dir="5400000">
              <a:srgbClr val="12233F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12480" y="1828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412480" y="24688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Keamanan &amp; Audit Lanjutan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412480" y="292608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Maker-checker, security, biometrik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Training Core Banking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Arsitektur Modul IBANKCORE</a:t>
            </a:r>
            <a:endParaRPr lang="en-US" sz="3000" dirty="0"/>
          </a:p>
        </p:txBody>
      </p:sp>
      <p:pic>
        <p:nvPicPr>
          <p:cNvPr id="4" name="Image 0" descr="diagrams\01_arsitektur_ibankco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64841" y="1600200"/>
            <a:ext cx="7659269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Training Core Banking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Delapan Modul Utama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73936"/>
            <a:ext cx="91440" cy="548640"/>
          </a:xfrm>
          <a:prstGeom prst="roundRect">
            <a:avLst/>
          </a:prstGeom>
          <a:solidFill>
            <a:srgbClr val="C0862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7335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020824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pendanaan/simpanan (tabungan, giro, deposito)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773936"/>
            <a:ext cx="91440" cy="548640"/>
          </a:xfrm>
          <a:prstGeom prst="roundRect">
            <a:avLst/>
          </a:prstGeom>
          <a:solidFill>
            <a:srgbClr val="C0862B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67335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2020824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Pembiayaan, termasuk skema syariah (Murabahah, Ijarah, Kafalah)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660904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834640"/>
            <a:ext cx="91440" cy="548640"/>
          </a:xfrm>
          <a:prstGeom prst="roundRect">
            <a:avLst/>
          </a:prstGeom>
          <a:solidFill>
            <a:srgbClr val="C0862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734056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081528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Pencatatan double-entry &amp; buku besar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2660904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834640"/>
            <a:ext cx="91440" cy="548640"/>
          </a:xfrm>
          <a:prstGeom prst="roundRect">
            <a:avLst/>
          </a:prstGeom>
          <a:solidFill>
            <a:srgbClr val="C0862B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2734056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 &amp; Vault (Teller/ATM)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3081528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 fisik: teller, vault, ATM, sundry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721608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895344"/>
            <a:ext cx="91440" cy="548640"/>
          </a:xfrm>
          <a:prstGeom prst="roundRect">
            <a:avLst/>
          </a:prstGeom>
          <a:solidFill>
            <a:srgbClr val="C0862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7947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Remittance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14223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antar bank: SKN, RTGS, BI-FAST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3721608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3895344"/>
            <a:ext cx="91440" cy="548640"/>
          </a:xfrm>
          <a:prstGeom prst="roundRect">
            <a:avLst/>
          </a:prstGeom>
          <a:solidFill>
            <a:srgbClr val="C0862B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37947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Account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29400" y="414223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Rekening internal bank (GL, suspense)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782312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" y="4956048"/>
            <a:ext cx="91440" cy="548640"/>
          </a:xfrm>
          <a:prstGeom prst="roundRect">
            <a:avLst/>
          </a:prstGeom>
          <a:solidFill>
            <a:srgbClr val="C0862B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85546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4400" y="5202936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induk nasabah (CIF)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263640" y="4782312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0" y="4956048"/>
            <a:ext cx="91440" cy="548640"/>
          </a:xfrm>
          <a:prstGeom prst="roundRect">
            <a:avLst/>
          </a:prstGeom>
          <a:solidFill>
            <a:srgbClr val="C0862B"/>
          </a:solidFill>
          <a:ln/>
        </p:spPr>
      </p:sp>
      <p:sp>
        <p:nvSpPr>
          <p:cNvPr id="34" name="Text 32"/>
          <p:cNvSpPr/>
          <p:nvPr/>
        </p:nvSpPr>
        <p:spPr>
          <a:xfrm>
            <a:off x="6629400" y="4855464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629400" y="5202936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Parameter, otorisasi, audit trail lintas modul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Training Core Banking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 Accounting — Prinsip Dasar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2233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Double-Entry Bookkeeping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transaksi selalu menghasilkan pasangan mutasi yang seimbang: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9535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22960" y="34107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2880360"/>
            <a:ext cx="228600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29535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341071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Kredit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40690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TRANSACTION_DETAILS 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tabel inti mutasi, atribut MUTATION_TYPE (DR/CR)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6177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dailybalancerekening 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saldo harian, direkonsiliasi terhadap mutasi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60" y="51663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CTI lintas skema 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CORE_TRX, FUNDING, CASHMGT, REMIT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16459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1874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Mengapa Penting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537960" y="243230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232257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Menjamin keseimbangan (balance) setiap transaksi secara atomik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311810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300837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 dasar rekonsiliasi saldo &amp; deteksi anomali/duplikasi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537960" y="380390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369417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Mendukung jejak audit (audit trail) untuk kebutuhan OJK/BI &amp; auditor eksternal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37960" y="448970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0" y="437997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Menjadi sumber event bagi sistem hilir melalui outbox pattern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Training Core Banking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Pencatatan Transaksi</a:t>
            </a:r>
            <a:endParaRPr lang="en-US" sz="3000" dirty="0"/>
          </a:p>
        </p:txBody>
      </p:sp>
      <p:pic>
        <p:nvPicPr>
          <p:cNvPr id="4" name="Image 0" descr="diagrams\02_alur_double_en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3433" y="1600200"/>
            <a:ext cx="9162086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Training Core Banking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 Funding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Mengelola produk pendanaan / simpanan nasabah — sumber utama Dana Pihak Ketiga (DPK).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12233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560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0862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Pembukaan Rekening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88620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Tabungan, giro, deposito — termasuk validasi identitas via modul Customer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383280" y="228600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3611880" y="2560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0862B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1880" y="32461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 Hasil / Bunga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11880" y="388620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Perhitungan sesuai jenis produk, konvensional maupun syariah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217920" y="228600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12233F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6520" y="2560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0862B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32461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Mutasi Transaksi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46520" y="388620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Setoran, penarikan, pemindahbukuan — tercatat via modul Accounting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9052560" y="228600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9281160" y="2560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0862B"/>
          </a:solidFill>
          <a:ln/>
        </p:spPr>
      </p:sp>
      <p:sp>
        <p:nvSpPr>
          <p:cNvPr id="22" name="Text 20"/>
          <p:cNvSpPr/>
          <p:nvPr/>
        </p:nvSpPr>
        <p:spPr>
          <a:xfrm>
            <a:off x="928116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81160" y="32461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Keterkaitan Kas &amp; Vault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281160" y="388620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tunai berinteraksi dengan CASH_POINT (teller/ATM)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Training Core Banking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Treasury / Kas &amp; Vault (Teller/ATM)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AF1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Abstraksi CASH_POINT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Menyeragamkan berbagai titik penyimpanan / perputaran kas dalam satu model: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48463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8803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Laci Teller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538728"/>
            <a:ext cx="48463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353872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(Khazanah) Cabang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197096"/>
            <a:ext cx="48463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419709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Mesin ATM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855464"/>
            <a:ext cx="484632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4855464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Rekening Sundry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16459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874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Fungsi Treasury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537960" y="243230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0" y="232257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Pengelolaan likuiditas harian &amp; posisi kas bank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537960" y="311810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0" y="300837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Rekonsiliasi kas fisik terhadap catatan sistem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37960" y="380390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369417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Interaksi dengan Remittance untuk settlement lintas bank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537960" y="4389120"/>
            <a:ext cx="4846320" cy="1508760"/>
          </a:xfrm>
          <a:prstGeom prst="roundRect">
            <a:avLst>
              <a:gd name="adj" fmla="val 4848"/>
            </a:avLst>
          </a:prstGeom>
          <a:solidFill>
            <a:srgbClr val="12233F"/>
          </a:solidFill>
          <a:ln/>
        </p:spPr>
      </p:sp>
      <p:sp>
        <p:nvSpPr>
          <p:cNvPr id="24" name="Text 22"/>
          <p:cNvSpPr/>
          <p:nvPr/>
        </p:nvSpPr>
        <p:spPr>
          <a:xfrm>
            <a:off x="6766560" y="4526280"/>
            <a:ext cx="43891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 &amp; Vault ⇄ Treasury ⇄ Remittance menjaga likuiditas &amp; settlement bank. Bukan 'Cash Management System' portal korporat — ini kas fisik cabang.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Training Core Banking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Integrasi dengan Sistem Sekitar</a:t>
            </a:r>
            <a:endParaRPr lang="en-US" sz="3000" dirty="0"/>
          </a:p>
        </p:txBody>
      </p:sp>
      <p:pic>
        <p:nvPicPr>
          <p:cNvPr id="4" name="Image 0" descr="diagrams\03_integrasi_sistem_seki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9701" y="1600200"/>
            <a:ext cx="7829550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Training Core Banking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Kliring, Event Streaming &amp; Pelaporan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Kliring &amp; Pembayaran Antar Bank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19456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194560" y="219456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Kliring nasional, nilai relatif kecil, proses batch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0040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RTGS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194560" y="320040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bernilai besar, real-time gross settlement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5394960" cy="868680"/>
          </a:xfrm>
          <a:prstGeom prst="roundRect">
            <a:avLst>
              <a:gd name="adj" fmla="val 6316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20624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BI-FAST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194560" y="42062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real-time nilai kecil-menengah, tersedia 24/7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64592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2233F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1828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 Streaming — Kafka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537960" y="2240280"/>
            <a:ext cx="484632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Pola transactional outbox menjamin event transaksi terpublikasi konsisten ke konsumen hilir (reporting, notifikasi, GL) — loose coupling tanpa akses langsung ke DB inti.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63640" y="393192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EAF1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4114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Pelaporan Regulator &amp; Audit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537960" y="452628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mendukung pelaporan berkala ke OJK/BI serta menyediakan jejak data yang tertelusur untuk kebutuhan audit eksternal.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Training Core Banking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Contoh Proses Bisnis — Setor Tunai</a:t>
            </a:r>
            <a:endParaRPr lang="en-US" sz="3000" dirty="0"/>
          </a:p>
        </p:txBody>
      </p:sp>
      <p:pic>
        <p:nvPicPr>
          <p:cNvPr id="4" name="Image 0" descr="diagrams\04_proses_setor_tun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3012" y="1600200"/>
            <a:ext cx="8982928" cy="4846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Training Core Banking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Pindah Buku &amp; Konteks Syariah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AF1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Pindah Buku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antar rekening dalam bank yang sama: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93522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82549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Mutasi DR pada rekening sumber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62102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51129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Mutasi CR pada rekening tujuan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30682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19709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Terjadi secara atomik (bersamaan)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499262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88289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melibatkan modul Kas &amp; Vault (tidak ada kas fisik)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63640" y="16459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2233F"/>
          </a:solidFill>
          <a:ln/>
        </p:spPr>
      </p:sp>
      <p:sp>
        <p:nvSpPr>
          <p:cNvPr id="16" name="Text 14"/>
          <p:cNvSpPr/>
          <p:nvPr/>
        </p:nvSpPr>
        <p:spPr>
          <a:xfrm>
            <a:off x="6537960" y="1874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Konteks Syariah — PSAK 109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37960" y="2377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Sebagian produk Financing mengikuti prinsip syariah: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37960" y="2880360"/>
            <a:ext cx="4846320" cy="6858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6720840" y="295351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Murabahah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32520" y="295351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Jual-beli dengan margin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37960" y="3703320"/>
            <a:ext cx="4846320" cy="6858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720840" y="377647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Ijarah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32520" y="377647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Sewa (leasing)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537960" y="4526280"/>
            <a:ext cx="4846320" cy="6858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45994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Kafalah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732520" y="4599432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Penjaminan (guarantee)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Training Core Banking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Produk &amp; Layanan Tambahan (1/2)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73936"/>
            <a:ext cx="91440" cy="548640"/>
          </a:xfrm>
          <a:prstGeom prst="roundRect">
            <a:avLst/>
          </a:prstGeom>
          <a:solidFill>
            <a:srgbClr val="C0862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7335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020824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Bunga/bagi hasil, pencairan awal, perubahan nisbah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773936"/>
            <a:ext cx="91440" cy="548640"/>
          </a:xfrm>
          <a:prstGeom prst="roundRect">
            <a:avLst/>
          </a:prstGeom>
          <a:solidFill>
            <a:srgbClr val="C0862B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67335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Kliring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2020824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Pencatatan warkat/instruksi kliring nasabah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660904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834640"/>
            <a:ext cx="91440" cy="548640"/>
          </a:xfrm>
          <a:prstGeom prst="roundRect">
            <a:avLst/>
          </a:prstGeom>
          <a:solidFill>
            <a:srgbClr val="C0862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734056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Teller &amp; Layanan Counter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081528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transaksi front office via CASH_POINT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2660904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834640"/>
            <a:ext cx="91440" cy="548640"/>
          </a:xfrm>
          <a:prstGeom prst="roundRect">
            <a:avLst/>
          </a:prstGeom>
          <a:solidFill>
            <a:srgbClr val="C0862B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2734056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QRIS &amp; Virtual Account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3081528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Pembayaran QR &amp; VA, settlement/matching batch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721608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895344"/>
            <a:ext cx="91440" cy="548640"/>
          </a:xfrm>
          <a:prstGeom prst="roundRect">
            <a:avLst/>
          </a:prstGeom>
          <a:solidFill>
            <a:srgbClr val="C0862B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37947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Host-to-Host &amp; REST API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14400" y="414223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sistem eksternal berbasis JSON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3721608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3895344"/>
            <a:ext cx="91440" cy="548640"/>
          </a:xfrm>
          <a:prstGeom prst="roundRect">
            <a:avLst/>
          </a:prstGeom>
          <a:solidFill>
            <a:srgbClr val="C0862B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379476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Banking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29400" y="4142232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Layanan &amp; otorisasi bertingkat nasabah korporat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Training Core Banking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Produk &amp; Layanan Tambahan (2/2)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73936"/>
            <a:ext cx="91440" cy="548640"/>
          </a:xfrm>
          <a:prstGeom prst="roundRect">
            <a:avLst/>
          </a:prstGeom>
          <a:solidFill>
            <a:srgbClr val="C0862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7335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Rekening &amp; Manajemen Nasabah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020824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Siklus hidup CIF, pembukaan-penutupan rekening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63640" y="1600200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773936"/>
            <a:ext cx="91440" cy="548640"/>
          </a:xfrm>
          <a:prstGeom prst="roundRect">
            <a:avLst/>
          </a:prstGeom>
          <a:solidFill>
            <a:srgbClr val="C0862B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1673352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Biller &amp; Remittance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29400" y="2020824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Pembayaran tagihan pihak ketiga &amp; transfer lintas bank/negara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660904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834640"/>
            <a:ext cx="91440" cy="548640"/>
          </a:xfrm>
          <a:prstGeom prst="roundRect">
            <a:avLst/>
          </a:prstGeom>
          <a:solidFill>
            <a:srgbClr val="C0862B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734056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SAP/GL Eksternal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081528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Posting akuntansi batch untuk konsolidasi korporat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263640" y="2660904"/>
            <a:ext cx="5440680" cy="896112"/>
          </a:xfrm>
          <a:prstGeom prst="roundRect">
            <a:avLst>
              <a:gd name="adj" fmla="val 6122"/>
            </a:avLst>
          </a:prstGeom>
          <a:solidFill>
            <a:srgbClr val="F5F8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2834640"/>
            <a:ext cx="91440" cy="548640"/>
          </a:xfrm>
          <a:prstGeom prst="roundRect">
            <a:avLst/>
          </a:prstGeom>
          <a:solidFill>
            <a:srgbClr val="C0862B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2734056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2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Dana Haji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3081528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Produk simpanan/pembiayaan khusus dana haji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Training Core Banking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8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Operasional &amp; Kontinuitas Layanan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2233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 Process &amp; EOD/BOD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Siklus operasional harian cabang: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93522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282549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End-of-Day (EOD): tutup hari, rekonsiliasi saldo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362102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51129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Begin-of-Day (BOD): branch open, persiapan hari kerja baru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30682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19709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Prasyarat konsistensi data antar hari &amp; pelaporan regulator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164592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AF1F8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18745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&amp; Disaster Recovery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537960" y="23774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Menjaga kontinuitas layanan (business continuity):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537960" y="293522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282549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database berjenjang (penuh &amp; incremental)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537960" y="362102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351129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Prosedur disaster recovery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537960" y="4306824"/>
            <a:ext cx="137160" cy="137160"/>
          </a:xfrm>
          <a:prstGeom prst="ellipse">
            <a:avLst/>
          </a:prstGeom>
          <a:solidFill>
            <a:srgbClr val="C0862B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0" y="4197096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dari kepatuhan ketahanan operasional perbankan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Training Core Banking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Keamanan, Otorisasi &amp; Audit Lanjutan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Lapisan kontrol tambahan di luar hak akses dasar &amp; audit trail (Bagian 6).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12233F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560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0862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2461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Maker-Checker / Otorisasi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388620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Transaksi/perubahan data menunggu persetujuan (OtorEntri) sebelum efektif; riwayat otorisasi tersimpan sebagai jejak audit tersendiri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383280" y="228600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3611880" y="2560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0862B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11880" y="32461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Security &amp; Access Control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611880" y="388620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Validasi keamanan data user, activity log, serta laporan hak akses per user/grup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6217920" y="228600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12233F"/>
          </a:solidFill>
          <a:ln/>
        </p:spPr>
      </p:sp>
      <p:sp>
        <p:nvSpPr>
          <p:cNvPr id="16" name="Shape 14"/>
          <p:cNvSpPr/>
          <p:nvPr/>
        </p:nvSpPr>
        <p:spPr>
          <a:xfrm>
            <a:off x="6446520" y="2560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0862B"/>
          </a:solidFill>
          <a:ln/>
        </p:spPr>
      </p:sp>
      <p:sp>
        <p:nvSpPr>
          <p:cNvPr id="17" name="Text 15"/>
          <p:cNvSpPr/>
          <p:nvPr/>
        </p:nvSpPr>
        <p:spPr>
          <a:xfrm>
            <a:off x="644652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46520" y="32461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&amp; Block Management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46520" y="388620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Kedaluwarsa sesi login &amp; pemblokiran otomatis setelah kondisi tertentu (mis. gagal login berulang)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9052560" y="2286000"/>
            <a:ext cx="2606040" cy="2880360"/>
          </a:xfrm>
          <a:prstGeom prst="roundRect">
            <a:avLst>
              <a:gd name="adj" fmla="val 2807"/>
            </a:avLst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9281160" y="2560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0862B"/>
          </a:solidFill>
          <a:ln/>
        </p:spPr>
      </p:sp>
      <p:sp>
        <p:nvSpPr>
          <p:cNvPr id="22" name="Text 20"/>
          <p:cNvSpPr/>
          <p:nvPr/>
        </p:nvSpPr>
        <p:spPr>
          <a:xfrm>
            <a:off x="9281160" y="2560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281160" y="324612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Biometrik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281160" y="388620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Lapisan otentikasi tambahan di luar PIN/password untuk transaksi berisiko tinggi</a:t>
            </a:r>
            <a:endParaRPr lang="en-US" sz="108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Training Core Banking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1064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Poin-Poin Kunci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0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8229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Poin-Poin Kunci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0862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25880" y="182880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IBANKCORE — dua aplikasi (core &amp; enterprise) dengan lapisan data &amp; pola integrasi yang konsisten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0862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25880" y="260604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Accounting, Funding, Kas &amp; Vault — pencatatan double-entry &amp; Deposito sebagai contoh produk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42900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0862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38328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Integrasi sistem sekitar (Kafka, SKN/RTGS/BI-FAST, QRIS, host-to-host/REST) &amp; produk tambahan (Corporate, Biller, Dana Haji)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C0862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25880" y="4160520"/>
            <a:ext cx="9875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EOD/BOD, disaster recovery, maker-checker, user security &amp; biometrik — lapisan operasional dan kontrol keamanan kunci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0080" y="5257800"/>
            <a:ext cx="10881360" cy="0"/>
          </a:xfrm>
          <a:prstGeom prst="line">
            <a:avLst/>
          </a:prstGeom>
          <a:noFill/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4406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Bahan Diskusi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mana yang paling relevan untuk didalami lebih lanjut?   •   Bagaimana penerapan maker-checker &amp; EOD/BOD saat ini?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2026-08-24T03:29:00Z</dcterms:created>
  <dcterms:modified xsi:type="dcterms:W3CDTF">2026-08-24T03:29:00Z</dcterms:modified>
</cp:coreProperties>
</file>