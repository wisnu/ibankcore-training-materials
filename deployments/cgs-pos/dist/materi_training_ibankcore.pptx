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931920"/>
            <a:ext cx="4114800" cy="4114800"/>
          </a:xfrm>
          <a:prstGeom prst="ellipse">
            <a:avLst/>
          </a:prstGeom>
          <a:solidFill>
            <a:srgbClr val="C0862B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CORE BANKING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IBANKCORE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 · Funding · Treasury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Interaksi dengan Aplikasi Sekitar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011680" cy="0"/>
          </a:xfrm>
          <a:prstGeom prst="line">
            <a:avLst/>
          </a:prstGeom>
          <a:noFill/>
          <a:ln w="31750">
            <a:solidFill>
              <a:srgbClr val="C086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Ihsan Solusi  |  Overview untuk audiens teknis &amp; bisnis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 yang Akan Kita Bahas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IBANKCORE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&amp; sistem sekitar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ledger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Funding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simpanan nasabah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/ Kas &amp; Vault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CASH_POINT &amp; likuiditas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&amp; pelaporan regulator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1248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41248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Proses Bisnis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Tunai &amp; Pindah Buku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(LANJUTAN)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 Tambahan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&amp; Layanan Tambahan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Deposito, QRIS, VA, Corporate, dsb.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&amp; Kontinuitas Layanan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EOD/BOD, backup &amp; disaster recovery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&amp; Audit Lanjutan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Maker-checker, security, biometrik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Modul IBANKCORE</a:t>
            </a:r>
            <a:endParaRPr lang="en-US" sz="3000" dirty="0"/>
          </a:p>
        </p:txBody>
      </p:sp>
      <p:pic>
        <p:nvPicPr>
          <p:cNvPr id="4" name="Image 0" descr="deployments\cgs-pos\diagrams\01_arsitektur_ibank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4841" y="1600200"/>
            <a:ext cx="7659269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Modul Utama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organisasi, user &amp; hak akses, otorisasi, audit trail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pendanaan/simpanan (tabungan, giro, deposito)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double-entry &amp; buku besar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(Teller/ATM)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fisik: teller, vault, ATM, sundry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Account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internal bank (GL, suspense)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induk nasabah (CIF)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Tiga Aplikasi: Core, Enterprise &amp; Switching-CGS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&amp; Enterprise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akses DB lewat lapisan aplikasi sendiri: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— platform/administratif (user, cabang, otorisasi)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— mesin transaksi &amp; produk perbankan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Switching-CGS (Go)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Modernisasi switching dari Python legacy: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Microservice: core, jalin/QRIS, bca, topup, dll — BL2 (TCP) &amp; gRPC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untuk job-queue/idempotency, deploy Docker/Kubernetes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langsung ke Oracle — skema sama persis dengan core/enterprise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Organisasi — Wilayah, Cabang &amp; Atribut Kantor</a:t>
            </a:r>
            <a:endParaRPr lang="en-US" sz="3000" dirty="0"/>
          </a:p>
        </p:txBody>
      </p:sp>
      <p:pic>
        <p:nvPicPr>
          <p:cNvPr id="4" name="Image 0" descr="deployments\cgs-pos\diagrams\05_struktur_organisa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Kaitan Struktur Cabang dengan COA &amp; Neraca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of Accounts (COA)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akun COA menyatu dengan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(COA master) — daftar akun, tanpa dimensi cabang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Instance — akun COA diinstansiasi per cabang &amp; mata uang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Account (saldo/posting) menempel ke Account Instance, bukan ke Account master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Neraca &amp; Dimensi Cost Center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Penyusunan laporan &amp; dimensi biaya/pendapatan: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Neraca disusun per cabang maupun konsolidasi (parameter cabang opsional)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Wilayah bukan dimensi langsung GL — agregasi per wilayah dilakukan via Cabang → Area Cabang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 cost center pada jurnal = Kode RC (Project), bukan Departemen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Akses — Cabang &amp; Departemen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Cabang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Gerbang akses aktif per user, 3 mode: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— akses ke seluruh cabang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Tunggal — hanya cabang milik user sendiri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Parsial — hanya cabang yang terdaftar di daftar 'cabang diizinkan' + cabang sendiri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Departemen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serupa, konstruksi berbeda: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'departemen diizinkan' terhubung ke data karyawan, bukan langsung ke user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banyak dipakai untuk administrasi/pemilihan departemen (HR), bukan gerbang akses transaksi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akses meminjam pengaturan mode akses cabang milik user — tidak punya mode tersendiri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Accounting — Prinsip Dasar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Double-Entry Bookkeeping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transaksi selalu menghasilkan pasangan mutasi yang seimbang: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8328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/ JOURNALITEM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tabel inti ledger, baris mutasi DR/CR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46177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dailybalancerekening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saldo harian, direkonsiliasi terhadap mutasi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Penting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Menjamin keseimbangan (balance) setiap transaksi secara atomik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dasar rekonsiliasi saldo &amp; deteksi anomali/duplikasi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38039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6941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 jejak audit (audit trail) untuk kebutuhan OJK/BI &amp; auditor eksternal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44897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43799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sumber data bagi Feeder SAP untuk konsolidasi keuangan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Pencatatan Transaksi</a:t>
            </a:r>
            <a:endParaRPr lang="en-US" sz="3000" dirty="0"/>
          </a:p>
        </p:txBody>
      </p:sp>
      <p:pic>
        <p:nvPicPr>
          <p:cNvPr id="4" name="Image 0" descr="deployments\cgs-pos\diagrams\02_alur_double_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3433" y="1600200"/>
            <a:ext cx="9162086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Funding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Mengelola produk pendanaan / simpanan nasabah — sumber utama Dana Pihak Ketiga (DPK).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Pembukaan Rekening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Tabungan, giro, deposito — termasuk validasi identitas via modul Customer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 Hasil / Bunga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sesuai jenis produk, konvensional maupun syariah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Transaksi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Setoran, penarikan, pemindahbukuan — tercatat via modul Accounting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Kas &amp; Vault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tunai berinteraksi dengan CASH_POINT (teller/ATM)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Treasury / Kas &amp; Vault (Teller/ATM)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Abstraksi CASH_POINT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Menyeragamkan berbagai titik penyimpanan / perputaran kas dalam satu model: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8803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Laci Teller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538728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(Khazanah) Cabang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97096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197096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Mesin ATM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855464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855464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Sundry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Fungsi Treasury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likuiditas harian &amp; posisi kas bank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kas fisik terhadap catatan sistem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⇄ Treasury menjaga likuiditas bank. Bukan 'Cash Management System' portal korporat — ini kas fisik cabang.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Integrasi dengan Sistem Sekitar</a:t>
            </a:r>
            <a:endParaRPr lang="en-US" sz="3000" dirty="0"/>
          </a:p>
        </p:txBody>
      </p:sp>
      <p:pic>
        <p:nvPicPr>
          <p:cNvPr id="4" name="Image 0" descr="deployments\cgs-pos\diagrams\03_integrasi_sistem_seki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Feeder SAP &amp; Pelaporan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Feeder SAP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akuntansi eksternal secara batch: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mengambil (pull) data langsung dari DB Core secara berkala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push/event-driven — Core tidak mengirim data secara aktif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Melengkapi pencatatan GL internal pada modul Accounting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Pelaporan Regulator &amp; Audit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 kepatuhan &amp; audit eksternal: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 berkala ke OJK/BI (laporan keuangan, transaksi, kepatuhan)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data yang tertelusur untuk kebutuhan audit eksternal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Switching — Akses Langsung DB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Switching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Berbeda dari kanal lain (QRIS, host-to-host, REST API):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langsung ke basis data Core, bukan lewat lapisan aplikasi/API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Konfigurasi di level infrastruktur/database (mis. database link)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Terkonfirmasi: skema DB switching sama persis dengan skema core/enterprise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Implikasi Tata Kelola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Perlu perhatian ekstra dibanding integrasi berbasis API: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Melewati lapisan validasi aplikasi Core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skema database berpotensi berdampak langsung ke switching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terikat kontrak API yang terversi seperti kanal lain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Sekitar Khusus PT Pos: PGC &amp; CMS</a:t>
            </a:r>
            <a:endParaRPr lang="en-US" sz="3000" dirty="0"/>
          </a:p>
        </p:txBody>
      </p:sp>
      <p:pic>
        <p:nvPicPr>
          <p:cNvPr id="4" name="Image 0" descr="deployments\cgs-pos\diagrams\06_pgc_c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6851" y="1600200"/>
            <a:ext cx="8675251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PGC &amp; CMS (Khusus PT Pos)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CMS (Cash Management System)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digital untuk institusi/korporat: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Instansi pemerintah/himbara kirim instruksi penyaluran massal (bulk disbursement)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Berbeda dari modul internal 'Kas &amp; Vault' — CMS murni kanal eksternal, bukan kas fisik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PGC (Pos Giro Cash)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Pos sebagai agen penyalur ke penerima manfaat: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Loket/Counter (tunai), QRIS (non-tunai), atau kredit rekening tabungan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pencairan tergantung program PGC terkait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Berdasarkan konfirmasi bisnis — PGC &amp; CMS tidak ditemukan pada eksplorasi source code core/enterprise.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Verifikasi Identitas &amp; OTP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KTP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identitas nasabah: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data kependudukan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Dipanggil aplikasi switching saat diperlukan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SMS API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Otentikasi transaksi tambahan: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Pengiriman OTP (One-Time Password)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Melengkapi verifikasi di luar PIN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Contoh Proses Bisnis — Setor Tunai</a:t>
            </a:r>
            <a:endParaRPr lang="en-US" sz="3000" dirty="0"/>
          </a:p>
        </p:txBody>
      </p:sp>
      <p:pic>
        <p:nvPicPr>
          <p:cNvPr id="4" name="Image 0" descr="deployments\cgs-pos\diagrams\04_proses_setor_tun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012" y="1600200"/>
            <a:ext cx="8982928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antar rekening dalam bank yang sama: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DR pada rekening sumber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CR pada rekening tujuan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secara atomik (bersamaan)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9926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828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melibatkan modul Kas &amp; Vault (tidak ada kas fisik)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Dibanding Setor Tunai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Perbedaan utama dengan proses Setor Tunai: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melibatkan CASH_POINT (teller/vault/ATM)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 mutasi (DR &amp; CR) terjadi dalam satu bank yang sama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pertukaran kas fisik dengan nasabah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Bunga/bagi hasil, pencairan awal, perubahan nisbah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Teller &amp; Layanan Counter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transaksi front office via CASH_POINT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QRIS &amp; Virtual Account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QR &amp; VA, settlement/matching batch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Host-to-Host &amp; REST API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eksternal berbasis JSON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Banking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&amp; otorisasi bertingkat nasabah korporat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&amp; Manajemen Nasabah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hidup CIF, pembukaan-penutupan rekening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tagihan pihak ketiga (listrik, telekomunikasi, dsb.)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/ GL Eksternal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akuntansi batch untuk konsolidasi korporat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Operasional &amp; Kontinuitas Layanan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Process &amp; EOD/BOD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operasional harian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(EOD): tutup hari, rekonsiliasi saldo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Begin-of-Day (BOD): branch open, persiapan hari kerja baru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Prasyarat konsistensi data antar hari &amp; pelaporan regulator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&amp; Disaster Recovery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kontinuitas layanan (business continuity):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database berjenjang (penuh &amp; incremental)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 disaster recovery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dari kepatuhan ketahanan operasional perbankan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Keamanan, Otorisasi &amp; Audit Lanjutan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kontrol tambahan di luar hak akses dasar &amp; audit trail (Bagian 6).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 / Otorisasi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Transaksi/perubahan data menunggu persetujuan (OtorEntri) sebelum efektif; riwayat otorisasi tersimpan sebagai jejak audit tersendiri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Security &amp; Access Control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keamanan data user, activity log, serta laporan hak akses per user/grup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&amp; Block Management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sesi login &amp; pemblokiran otomatis setelah kondisi tertentu (mis. gagal login berulang)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Biometrik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otentikasi tambahan di luar PIN/password untuk transaksi berisiko tinggi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82880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dua aplikasi (core &amp; enterprise) dengan lapisan data &amp; pola integrasi yang konsisten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60604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Accounting, Funding, Kas &amp; Vault — pencatatan double-entry &amp; Deposito sebagai contoh produk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38328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 (Feeder SAP, QRIS, host-to-host/REST) &amp; produk tambahan (Corporate Banking, Biller)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416052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EOD/BOD, disaster recovery, maker-checker, user security &amp; biometrik — lapisan operasional dan kontrol keamanan kunci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440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Bahan Diskusi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mana yang paling relevan untuk didalami lebih lanjut?   •   Bagaimana penerapan maker-checker &amp; EOD/BOD saat ini?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2026-08-25T19:41:32Z</dcterms:created>
  <dcterms:modified xsi:type="dcterms:W3CDTF">2026-08-25T19:41:32Z</dcterms:modified>
</cp:coreProperties>
</file>