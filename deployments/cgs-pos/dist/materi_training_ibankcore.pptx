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2286000"/>
            <a:ext cx="6400800" cy="6400800"/>
          </a:xfrm>
          <a:prstGeom prst="ellipse">
            <a:avLst/>
          </a:prstGeom>
          <a:solidFill>
            <a:srgbClr val="1E2761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3931920"/>
            <a:ext cx="4114800" cy="4114800"/>
          </a:xfrm>
          <a:prstGeom prst="ellipse">
            <a:avLst/>
          </a:prstGeom>
          <a:solidFill>
            <a:srgbClr val="C0862B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874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CORE BANKING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19456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 IBANKCORE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333756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Accounting · Funding · Treasury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 Interaksi dengan Aplikasi Sekitar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4343400"/>
            <a:ext cx="2011680" cy="0"/>
          </a:xfrm>
          <a:prstGeom prst="line">
            <a:avLst/>
          </a:prstGeom>
          <a:noFill/>
          <a:ln w="31750">
            <a:solidFill>
              <a:srgbClr val="C086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526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Ihsan Solusi  |  Overview untuk audiens teknis &amp; bisnis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Apa yang Akan Kita Bahas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828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Arsitektur IBANKCORE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9260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&amp; sistem sekitar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89120" y="16916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0" y="1828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4572000" y="24688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Accounting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0" y="29260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Double-entry ledger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29600" y="16916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12480" y="1828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412480" y="24688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Funding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412480" y="29260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 simpanan nasabah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7490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1520" y="38862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731520" y="45262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Treasury / Kas &amp; Vault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31520" y="49834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CASH_POINT &amp; likuiditas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89120" y="37490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572000" y="38862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4572000" y="45262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Integrasi Sistem Sekitar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0" y="49834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Feeder SAP &amp; pelaporan regulator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229600" y="37490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412480" y="38862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8412480" y="45262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Contoh Proses Bisnis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412480" y="49834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Tunai &amp; Pindah Buku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(LANJUTAN)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 Tambahan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828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 &amp; Layanan Tambahan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9260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Deposito, QRIS, VA, Corporate, dsb.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89120" y="16916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0" y="1828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4572000" y="24688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&amp; Kontinuitas Layanan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0" y="29260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EOD/BOD, backup &amp; disaster recovery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29600" y="16916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12480" y="1828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412480" y="24688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Keamanan &amp; Audit Lanjutan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412480" y="29260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Maker-checker, security, biometrik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Arsitektur Modul IBANKCORE</a:t>
            </a:r>
            <a:endParaRPr lang="en-US" sz="3000" dirty="0"/>
          </a:p>
        </p:txBody>
      </p:sp>
      <p:pic>
        <p:nvPicPr>
          <p:cNvPr id="4" name="Image 0" descr="deployments\cgs-pos\diagrams\01_arsitektur_ibankc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3894" y="1600200"/>
            <a:ext cx="9441163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Enam Modul Utama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773936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73352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020824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 organisasi, user &amp; hak akses, otorisasi, audit trail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63640" y="1600200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773936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6629400" y="1673352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629400" y="2020824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 pendanaan/simpanan (tabungan, giro, deposito)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660904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2834640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2734056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Accounting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14400" y="3081528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Pencatatan double-entry &amp; buku besar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63640" y="2660904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2834640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18" name="Text 16"/>
          <p:cNvSpPr/>
          <p:nvPr/>
        </p:nvSpPr>
        <p:spPr>
          <a:xfrm>
            <a:off x="6629400" y="2734056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 &amp; Vault (Teller/ATM)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629400" y="3081528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 fisik: teller, vault, ATM, sundry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721608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5800" y="3895344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3794760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Account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14400" y="4142232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Rekening internal bank (GL, suspense)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63640" y="3721608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0" y="3895344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26" name="Text 24"/>
          <p:cNvSpPr/>
          <p:nvPr/>
        </p:nvSpPr>
        <p:spPr>
          <a:xfrm>
            <a:off x="6629400" y="3794760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629400" y="4142232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induk nasabah (CIF)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Tiga Aplikasi: Core, Enterprise &amp; Switching-CGS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2233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&amp; Enterprise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Python, akses DB lewat lapisan aplikasi sendiri: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— platform/administratif (user, cabang, otorisasi)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— mesin transaksi &amp; produk perbankan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Switching-CGS (Go)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537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Modernisasi switching dari Python legacy: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537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Microservice: core, jalin/QRIS, bca, topup, dll — BL2 (TCP) &amp; gRPC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537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untuk job-queue/idempotency, deploy Docker/Kubernetes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37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Akses langsung ke Oracle — skema sama persis dengan core/enterprise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3rd Party Service &amp; Internal Support Layer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2233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3rd Party Service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Terhubung ke IBANKCORE via satu jalur dua arah: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PGC (Bansos) — instansi pemerintah/himbara penyalur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Jalin (QRIS) — termasuk rekonsiliasi manual berbasis file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2" name="Text 10"/>
          <p:cNvSpPr/>
          <p:nvPr/>
        </p:nvSpPr>
        <p:spPr>
          <a:xfrm>
            <a:off x="1143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— mitra transfer/switching antar bank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Internal Support Layer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537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Layanan pendukung internal, di luar envelope IBANKCORE: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37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Feeder SAP — pull data akuntansi ke SAP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37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Cut-off &amp; Cleansing Service — selaras dengan EOD/BOD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37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DWH — sumber data untuk Dashboard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537960" y="49926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48828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Service — pelaporan ke Regulator OJK/BI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Struktur Organisasi — Wilayah, Cabang &amp; Atribut Kantor</a:t>
            </a:r>
            <a:endParaRPr lang="en-US" sz="3000" dirty="0"/>
          </a:p>
        </p:txBody>
      </p:sp>
      <p:pic>
        <p:nvPicPr>
          <p:cNvPr id="4" name="Image 0" descr="deployments\cgs-pos\diagrams\05_struktur_organisas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79701" y="1600200"/>
            <a:ext cx="7829550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Kaitan Struktur Cabang dengan COA &amp; Neraca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2233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Chart of Accounts (COA)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Bagaimana akun COA menyatu dengan cabang: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(COA master) — daftar akun, tanpa dimensi cabang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Instance — akun COA diinstansiasi per cabang &amp; mata uang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2" name="Text 10"/>
          <p:cNvSpPr/>
          <p:nvPr/>
        </p:nvSpPr>
        <p:spPr>
          <a:xfrm>
            <a:off x="1143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 Account (saldo/posting) menempel ke Account Instance, bukan ke Account master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Neraca &amp; Dimensi Cost Center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537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Penyusunan laporan &amp; dimensi biaya/pendapatan: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37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Neraca disusun per cabang maupun konsolidasi (parameter cabang opsional)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37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Wilayah bukan dimensi langsung GL — agregasi per wilayah dilakukan via Cabang → Area Cabang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37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 cost center pada jurnal = Kode RC (Project), bukan Departemen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Isolasi Akses — Cabang &amp; Departemen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2233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Isolasi Cabang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Gerbang akses aktif per user, 3 mode: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Semua — akses ke seluruh cabang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Tunggal — hanya cabang milik user sendiri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2" name="Text 10"/>
          <p:cNvSpPr/>
          <p:nvPr/>
        </p:nvSpPr>
        <p:spPr>
          <a:xfrm>
            <a:off x="1143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Parsial — hanya cabang yang terdaftar di daftar 'cabang diizinkan' + cabang sendiri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Isolasi Departemen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537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Konsep serupa, konstruksi berbeda: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37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Daftar 'departemen diizinkan' terhubung ke data karyawan, bukan langsung ke user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37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Lebih banyak dipakai untuk administrasi/pemilihan departemen (HR), bukan gerbang akses transaksi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37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akses meminjam pengaturan mode akses cabang milik user — tidak punya mode tersendiri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 Accounting — Prinsip Dasar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2233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Double-Entry Bookkeeping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transaksi selalu menghasilkan pasangan mutasi yang seimbang: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880360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95351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" y="341071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Debit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83280" y="2880360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3383280" y="295351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383280" y="341071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Kredit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2960" y="406908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/ JOURNALITEM  </a:t>
            </a:r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tabel inti ledger, baris mutasi DR/CR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22960" y="461772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dailybalancerekening  </a:t>
            </a:r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saldo harian, direkonsiliasi terhadap mutasi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Mengapa Penting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537960" y="243230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0" y="232257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Menjamin keseimbangan (balance) setiap transaksi secara atomik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537960" y="311810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0" y="300837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Menjadi dasar rekonsiliasi saldo &amp; deteksi anomali/duplikasi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537960" y="380390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0" y="369417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Mendukung jejak audit (audit trail) untuk kebutuhan OJK/BI &amp; auditor eksternal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537960" y="448970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0" y="437997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Menjadi sumber data bagi Feeder SAP untuk konsolidasi keuangan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Alur Pencatatan Transaksi</a:t>
            </a:r>
            <a:endParaRPr lang="en-US" sz="3000" dirty="0"/>
          </a:p>
        </p:txBody>
      </p:sp>
      <p:pic>
        <p:nvPicPr>
          <p:cNvPr id="4" name="Image 0" descr="deployments\cgs-pos\diagrams\02_alur_double_ent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13433" y="1600200"/>
            <a:ext cx="9162086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 Funding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Mengelola produk pendanaan / simpanan nasabah — sumber utama Dana Pihak Ketiga (DPK).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12233F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560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62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560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32461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Pembukaan Rekening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77240" y="3886200"/>
            <a:ext cx="21488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Tabungan, giro, deposito — termasuk validasi identitas via modul Customer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3383280" y="228600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1E2761"/>
          </a:solidFill>
          <a:ln/>
        </p:spPr>
      </p:sp>
      <p:sp>
        <p:nvSpPr>
          <p:cNvPr id="11" name="Shape 9"/>
          <p:cNvSpPr/>
          <p:nvPr/>
        </p:nvSpPr>
        <p:spPr>
          <a:xfrm>
            <a:off x="3611880" y="2560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62B"/>
          </a:solidFill>
          <a:ln/>
        </p:spPr>
      </p:sp>
      <p:sp>
        <p:nvSpPr>
          <p:cNvPr id="12" name="Text 10"/>
          <p:cNvSpPr/>
          <p:nvPr/>
        </p:nvSpPr>
        <p:spPr>
          <a:xfrm>
            <a:off x="3611880" y="2560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611880" y="32461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 Hasil / Bunga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611880" y="3886200"/>
            <a:ext cx="21488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Perhitungan sesuai jenis produk, konvensional maupun syariah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6217920" y="228600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12233F"/>
          </a:solidFill>
          <a:ln/>
        </p:spPr>
      </p:sp>
      <p:sp>
        <p:nvSpPr>
          <p:cNvPr id="16" name="Shape 14"/>
          <p:cNvSpPr/>
          <p:nvPr/>
        </p:nvSpPr>
        <p:spPr>
          <a:xfrm>
            <a:off x="6446520" y="2560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62B"/>
          </a:solidFill>
          <a:ln/>
        </p:spPr>
      </p:sp>
      <p:sp>
        <p:nvSpPr>
          <p:cNvPr id="17" name="Text 15"/>
          <p:cNvSpPr/>
          <p:nvPr/>
        </p:nvSpPr>
        <p:spPr>
          <a:xfrm>
            <a:off x="6446520" y="2560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46520" y="32461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Mutasi Transaksi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46520" y="3886200"/>
            <a:ext cx="21488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Setoran, penarikan, pemindahbukuan — tercatat via modul Accounting</a:t>
            </a:r>
            <a:endParaRPr lang="en-US" sz="1080" dirty="0"/>
          </a:p>
        </p:txBody>
      </p:sp>
      <p:sp>
        <p:nvSpPr>
          <p:cNvPr id="20" name="Shape 18"/>
          <p:cNvSpPr/>
          <p:nvPr/>
        </p:nvSpPr>
        <p:spPr>
          <a:xfrm>
            <a:off x="9052560" y="228600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1E2761"/>
          </a:solidFill>
          <a:ln/>
        </p:spPr>
      </p:sp>
      <p:sp>
        <p:nvSpPr>
          <p:cNvPr id="21" name="Shape 19"/>
          <p:cNvSpPr/>
          <p:nvPr/>
        </p:nvSpPr>
        <p:spPr>
          <a:xfrm>
            <a:off x="9281160" y="2560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62B"/>
          </a:solidFill>
          <a:ln/>
        </p:spPr>
      </p:sp>
      <p:sp>
        <p:nvSpPr>
          <p:cNvPr id="22" name="Text 20"/>
          <p:cNvSpPr/>
          <p:nvPr/>
        </p:nvSpPr>
        <p:spPr>
          <a:xfrm>
            <a:off x="9281160" y="2560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281160" y="32461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Keterkaitan Kas &amp; Vault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9281160" y="3886200"/>
            <a:ext cx="21488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Transaksi tunai berinteraksi dengan CASH_POINT (teller/ATM)</a:t>
            </a:r>
            <a:endParaRPr lang="en-US" sz="1080" dirty="0"/>
          </a:p>
        </p:txBody>
      </p:sp>
      <p:sp>
        <p:nvSpPr>
          <p:cNvPr id="25" name="Text 23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Treasury / Kas &amp; Vault (Teller/ATM)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Abstraksi CASH_POINT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Menyeragamkan berbagai titik penyimpanan / perputaran kas dalam satu model: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880360"/>
            <a:ext cx="48463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88036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Laci Teller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538728"/>
            <a:ext cx="48463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3538728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Vault (Khazanah) Cabang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197096"/>
            <a:ext cx="48463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1560" y="4197096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Mesin ATM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855464"/>
            <a:ext cx="48463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4855464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Rekening Sundry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Fungsi Treasury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537960" y="243230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0" y="232257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Pengelolaan likuiditas harian &amp; posisi kas bank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537960" y="311810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0" y="300837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Rekonsiliasi kas fisik terhadap catatan sistem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537960" y="4389120"/>
            <a:ext cx="4846320" cy="1508760"/>
          </a:xfrm>
          <a:prstGeom prst="roundRect">
            <a:avLst>
              <a:gd name="adj" fmla="val 4848"/>
            </a:avLst>
          </a:prstGeom>
          <a:solidFill>
            <a:srgbClr val="12233F"/>
          </a:solidFill>
          <a:ln/>
        </p:spPr>
      </p:sp>
      <p:sp>
        <p:nvSpPr>
          <p:cNvPr id="22" name="Text 20"/>
          <p:cNvSpPr/>
          <p:nvPr/>
        </p:nvSpPr>
        <p:spPr>
          <a:xfrm>
            <a:off x="6766560" y="4526280"/>
            <a:ext cx="43891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 &amp; Vault ⇄ Treasury menjaga likuiditas bank. Bukan 'Cash Management System' portal korporat — ini kas fisik cabang.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Integrasi dengan Sistem Sekitar</a:t>
            </a:r>
            <a:endParaRPr lang="en-US" sz="3000" dirty="0"/>
          </a:p>
        </p:txBody>
      </p:sp>
      <p:pic>
        <p:nvPicPr>
          <p:cNvPr id="4" name="Image 0" descr="deployments\cgs-pos\diagrams\03_integrasi_sistem_sekit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79701" y="1600200"/>
            <a:ext cx="7829550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Feeder SAP &amp; Pelaporan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2233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Feeder SAP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Integrasi akuntansi eksternal secara batch: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Feeder SAP mengambil (pull) data langsung dari DB Core secara berkala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Bukan push/event-driven — Core tidak mengirim data secara aktif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2" name="Text 10"/>
          <p:cNvSpPr/>
          <p:nvPr/>
        </p:nvSpPr>
        <p:spPr>
          <a:xfrm>
            <a:off x="1143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Melengkapi pencatatan GL internal pada modul Accounting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Pelaporan Regulator &amp; Audit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537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Kebutuhan kepatuhan &amp; audit eksternal: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37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Pelaporan berkala ke OJK/BI (laporan keuangan, transaksi, kepatuhan)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37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Jejak data yang tertelusur untuk kebutuhan audit eksternal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Payment Switching — Akses Langsung DB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2233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Payment Switching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Berbeda dari kanal lain (QRIS, host-to-host, REST API):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Akses langsung ke basis data Core, bukan lewat lapisan aplikasi/API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Konfigurasi di level infrastruktur/database (mis. database link)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2" name="Text 10"/>
          <p:cNvSpPr/>
          <p:nvPr/>
        </p:nvSpPr>
        <p:spPr>
          <a:xfrm>
            <a:off x="1143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Terkonfirmasi: skema DB switching sama persis dengan skema core/enterprise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Implikasi Tata Kelola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537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Perlu perhatian ekstra dibanding integrasi berbasis API: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37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Melewati lapisan validasi aplikasi Core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37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Perubahan skema database berpotensi berdampak langsung ke switching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37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terikat kontrak API yang terversi seperti kanal lain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 Sekitar Khusus PT Pos: PGC &amp; CMS</a:t>
            </a:r>
            <a:endParaRPr lang="en-US" sz="3000" dirty="0"/>
          </a:p>
        </p:txBody>
      </p:sp>
      <p:pic>
        <p:nvPicPr>
          <p:cNvPr id="4" name="Image 0" descr="deployments\cgs-pos\diagrams\06_pgc_cm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56851" y="1600200"/>
            <a:ext cx="8675251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PGC &amp; CMS (Khusus PT Pos)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2233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CMS (Cash Management System)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Kanal digital untuk institusi/korporat: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Instansi pemerintah/himbara kirim instruksi penyaluran massal (bulk disbursement)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Berbeda dari modul internal 'Kas &amp; Vault' — CMS murni kanal eksternal, bukan kas fisik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PGC (Pos Giro Cash)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537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Pos sebagai agen penyalur ke penerima manfaat: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537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Loket/Counter (tunai), QRIS (non-tunai), atau kredit rekening tabungan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537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Metode pencairan tergantung program PGC terkait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37960" y="4389120"/>
            <a:ext cx="4846320" cy="1508760"/>
          </a:xfrm>
          <a:prstGeom prst="roundRect">
            <a:avLst>
              <a:gd name="adj" fmla="val 4848"/>
            </a:avLst>
          </a:prstGeom>
          <a:solidFill>
            <a:srgbClr val="12233F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0" y="4526280"/>
            <a:ext cx="43891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Berdasarkan konfirmasi bisnis — PGC &amp; CMS tidak ditemukan pada eksplorasi source code core/enterprise.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Verifikasi Identitas &amp; OTP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2233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KTP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Verifikasi identitas nasabah: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Validasi data kependudukan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Dipanggil aplikasi switching saat diperlukan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SMS API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537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Otentikasi transaksi tambahan: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537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Pengiriman OTP (One-Time Password)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537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Melengkapi verifikasi di luar PIN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Contoh Proses Bisnis — Setor Tunai</a:t>
            </a:r>
            <a:endParaRPr lang="en-US" sz="3000" dirty="0"/>
          </a:p>
        </p:txBody>
      </p:sp>
      <p:pic>
        <p:nvPicPr>
          <p:cNvPr id="4" name="Image 0" descr="deployments\cgs-pos\diagrams\04_proses_setor_tuna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3012" y="1600200"/>
            <a:ext cx="8982928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Pindah Buku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Pindah Buku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antar rekening dalam bank yang sama: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Mutasi DR pada rekening sumber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Mutasi CR pada rekening tujuan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2" name="Text 10"/>
          <p:cNvSpPr/>
          <p:nvPr/>
        </p:nvSpPr>
        <p:spPr>
          <a:xfrm>
            <a:off x="1143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Terjadi secara atomik (bersamaan)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9926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48828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Tanpa melibatkan modul Kas &amp; Vault (tidak ada kas fisik)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2233F"/>
          </a:solidFill>
          <a:ln/>
        </p:spPr>
      </p:sp>
      <p:sp>
        <p:nvSpPr>
          <p:cNvPr id="16" name="Text 14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Dibanding Setor Tunai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537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Perbedaan utama dengan proses Setor Tunai: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537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melibatkan CASH_POINT (teller/vault/ATM)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37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Kedua mutasi (DR &amp; CR) terjadi dalam satu bank yang sama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537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ada pertukaran kas fisik dengan nasabah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7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Produk &amp; Layanan Tambahan (1/2)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773936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73352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020824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Bunga/bagi hasil, pencairan awal, perubahan nisbah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63640" y="1600200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773936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6629400" y="1673352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Teller &amp; Layanan Counter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629400" y="2020824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Alur transaksi front office via CASH_POINT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660904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2834640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2734056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QRIS &amp; Virtual Account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14400" y="3081528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Pembayaran QR &amp; VA, settlement/matching batch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63640" y="2660904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2834640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18" name="Text 16"/>
          <p:cNvSpPr/>
          <p:nvPr/>
        </p:nvSpPr>
        <p:spPr>
          <a:xfrm>
            <a:off x="6629400" y="2734056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Host-to-Host &amp; REST API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629400" y="3081528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Integrasi sistem eksternal berbasis JSON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721608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5800" y="3895344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3794760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Banking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14400" y="4142232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Layanan &amp; otorisasi bertingkat nasabah korporat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63640" y="3721608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0" y="3895344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26" name="Text 24"/>
          <p:cNvSpPr/>
          <p:nvPr/>
        </p:nvSpPr>
        <p:spPr>
          <a:xfrm>
            <a:off x="6629400" y="3794760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Rekening &amp; Manajemen Nasabah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629400" y="4142232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Siklus hidup CIF, pembukaan-penutupan rekening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7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Produk &amp; Layanan Tambahan (2/2)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773936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73352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020824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Pembayaran tagihan pihak ketiga (listrik, telekomunikasi, dsb.)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63640" y="1600200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773936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6629400" y="1673352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Feeder SAP / GL Eksternal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629400" y="2020824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 akuntansi batch untuk konsolidasi korporat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8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Batch Operasional &amp; Kontinuitas Layanan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2233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Batch Process &amp; EOD/BOD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Siklus operasional harian cabang: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End-of-Day (EOD): tutup hari, rekonsiliasi saldo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Begin-of-Day (BOD): branch open, persiapan hari kerja baru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2" name="Text 10"/>
          <p:cNvSpPr/>
          <p:nvPr/>
        </p:nvSpPr>
        <p:spPr>
          <a:xfrm>
            <a:off x="1143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Prasyarat konsistensi data antar hari &amp; pelaporan regulator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 &amp; Disaster Recovery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537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Menjaga kontinuitas layanan (business continuity):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37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database berjenjang (penuh &amp; incremental)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37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Prosedur disaster recovery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37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dari kepatuhan ketahanan operasional perbankan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9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Keamanan, Otorisasi &amp; Audit Lanjutan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Lapisan kontrol tambahan di luar hak akses dasar &amp; audit trail (Bagian 6).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12233F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560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62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560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32461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Maker-Checker / Otorisasi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77240" y="3886200"/>
            <a:ext cx="21488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Transaksi/perubahan data menunggu persetujuan (OtorEntri) sebelum efektif; riwayat otorisasi tersimpan sebagai jejak audit tersendiri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3383280" y="228600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1E2761"/>
          </a:solidFill>
          <a:ln/>
        </p:spPr>
      </p:sp>
      <p:sp>
        <p:nvSpPr>
          <p:cNvPr id="11" name="Shape 9"/>
          <p:cNvSpPr/>
          <p:nvPr/>
        </p:nvSpPr>
        <p:spPr>
          <a:xfrm>
            <a:off x="3611880" y="2560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62B"/>
          </a:solidFill>
          <a:ln/>
        </p:spPr>
      </p:sp>
      <p:sp>
        <p:nvSpPr>
          <p:cNvPr id="12" name="Text 10"/>
          <p:cNvSpPr/>
          <p:nvPr/>
        </p:nvSpPr>
        <p:spPr>
          <a:xfrm>
            <a:off x="3611880" y="2560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611880" y="32461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Security &amp; Access Control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611880" y="3886200"/>
            <a:ext cx="21488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Validasi keamanan data user, activity log, serta laporan hak akses per user/grup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6217920" y="228600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12233F"/>
          </a:solidFill>
          <a:ln/>
        </p:spPr>
      </p:sp>
      <p:sp>
        <p:nvSpPr>
          <p:cNvPr id="16" name="Shape 14"/>
          <p:cNvSpPr/>
          <p:nvPr/>
        </p:nvSpPr>
        <p:spPr>
          <a:xfrm>
            <a:off x="6446520" y="2560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62B"/>
          </a:solidFill>
          <a:ln/>
        </p:spPr>
      </p:sp>
      <p:sp>
        <p:nvSpPr>
          <p:cNvPr id="17" name="Text 15"/>
          <p:cNvSpPr/>
          <p:nvPr/>
        </p:nvSpPr>
        <p:spPr>
          <a:xfrm>
            <a:off x="6446520" y="2560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46520" y="32461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&amp; Block Management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46520" y="3886200"/>
            <a:ext cx="21488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Kedaluwarsa sesi login &amp; pemblokiran otomatis setelah kondisi tertentu (mis. gagal login berulang)</a:t>
            </a:r>
            <a:endParaRPr lang="en-US" sz="1080" dirty="0"/>
          </a:p>
        </p:txBody>
      </p:sp>
      <p:sp>
        <p:nvSpPr>
          <p:cNvPr id="20" name="Shape 18"/>
          <p:cNvSpPr/>
          <p:nvPr/>
        </p:nvSpPr>
        <p:spPr>
          <a:xfrm>
            <a:off x="9052560" y="228600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1E2761"/>
          </a:solidFill>
          <a:ln/>
        </p:spPr>
      </p:sp>
      <p:sp>
        <p:nvSpPr>
          <p:cNvPr id="21" name="Shape 19"/>
          <p:cNvSpPr/>
          <p:nvPr/>
        </p:nvSpPr>
        <p:spPr>
          <a:xfrm>
            <a:off x="9281160" y="2560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62B"/>
          </a:solidFill>
          <a:ln/>
        </p:spPr>
      </p:sp>
      <p:sp>
        <p:nvSpPr>
          <p:cNvPr id="22" name="Text 20"/>
          <p:cNvSpPr/>
          <p:nvPr/>
        </p:nvSpPr>
        <p:spPr>
          <a:xfrm>
            <a:off x="9281160" y="2560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281160" y="32461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Verifikasi Biometrik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9281160" y="3886200"/>
            <a:ext cx="21488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Lapisan otentikasi tambahan di luar PIN/password untuk transaksi berisiko tinggi</a:t>
            </a:r>
            <a:endParaRPr lang="en-US" sz="1080" dirty="0"/>
          </a:p>
        </p:txBody>
      </p:sp>
      <p:sp>
        <p:nvSpPr>
          <p:cNvPr id="25" name="Text 23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2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RINGKASAN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Poin-Poin Kunci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E2761">
              <a:alpha val="5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RINGKASAN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8229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Poin-Poin Kunci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745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C0862B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25880" y="1828800"/>
            <a:ext cx="9875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dua aplikasi (core &amp; enterprise) dengan lapisan data &amp; pola integrasi yang konsisten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265176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C0862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651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25880" y="2606040"/>
            <a:ext cx="9875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Accounting, Funding, Kas &amp; Vault — pencatatan double-entry &amp; Deposito sebagai contoh produk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40080" y="34290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C0862B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429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25880" y="3383280"/>
            <a:ext cx="9875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Integrasi sistem sekitar (Feeder SAP, QRIS, host-to-host/REST) &amp; produk tambahan (Corporate Banking, Biller)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420624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C0862B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206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25880" y="4160520"/>
            <a:ext cx="9875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EOD/BOD, disaster recovery, maker-checker, user security &amp; biometrik — lapisan operasional dan kontrol keamanan kunci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40080" y="5257800"/>
            <a:ext cx="10881360" cy="0"/>
          </a:xfrm>
          <a:prstGeom prst="line">
            <a:avLst/>
          </a:prstGeom>
          <a:noFill/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54406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Bahan Diskusi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mana yang paling relevan untuk didalami lebih lanjut?   •   Bagaimana penerapan maker-checker &amp; EOD/BOD saat ini?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2026-08-25T20:35:24Z</dcterms:created>
  <dcterms:modified xsi:type="dcterms:W3CDTF">2026-08-25T20:35:24Z</dcterms:modified>
</cp:coreProperties>
</file>